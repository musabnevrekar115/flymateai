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411480"/>
            <a:ext cx="4297680" cy="4297680"/>
          </a:xfrm>
          <a:prstGeom prst="ellipse">
            <a:avLst/>
          </a:prstGeom>
          <a:noFill/>
          <a:ln w="17780">
            <a:solidFill>
              <a:srgbClr val="29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26679" y="822960"/>
            <a:ext cx="3474720" cy="3474720"/>
          </a:xfrm>
          <a:prstGeom prst="ellipse">
            <a:avLst/>
          </a:prstGeom>
          <a:noFill/>
          <a:ln w="17780">
            <a:solidFill>
              <a:srgbClr val="3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1234440"/>
            <a:ext cx="2651760" cy="2651760"/>
          </a:xfrm>
          <a:prstGeom prst="ellipse">
            <a:avLst/>
          </a:prstGeom>
          <a:noFill/>
          <a:ln w="17780">
            <a:solidFill>
              <a:srgbClr val="41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325880"/>
            <a:ext cx="2468880" cy="2468880"/>
          </a:xfrm>
          <a:prstGeom prst="ellipse">
            <a:avLst/>
          </a:prstGeom>
          <a:solidFill>
            <a:srgbClr val="11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68512" y="1325880"/>
            <a:ext cx="1591056" cy="2468880"/>
          </a:xfrm>
          <a:prstGeom prst="ellipse">
            <a:avLst/>
          </a:prstGeom>
          <a:noFill/>
          <a:ln w="8890">
            <a:solidFill>
              <a:srgbClr val="3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1325880"/>
            <a:ext cx="822960" cy="2468880"/>
          </a:xfrm>
          <a:prstGeom prst="ellipse">
            <a:avLst/>
          </a:prstGeom>
          <a:noFill/>
          <a:ln w="8890">
            <a:solidFill>
              <a:srgbClr val="3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2468880" cy="1371600"/>
          </a:xfrm>
          <a:prstGeom prst="ellipse">
            <a:avLst/>
          </a:prstGeom>
          <a:noFill/>
          <a:ln w="8890">
            <a:solidFill>
              <a:srgbClr val="3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0" y="2148840"/>
            <a:ext cx="2468880" cy="822960"/>
          </a:xfrm>
          <a:prstGeom prst="ellipse">
            <a:avLst/>
          </a:prstGeom>
          <a:noFill/>
          <a:ln w="8890">
            <a:solidFill>
              <a:srgbClr val="3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12680" y="1024128"/>
            <a:ext cx="164592" cy="164592"/>
          </a:xfrm>
          <a:prstGeom prst="ellipse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731520"/>
            <a:ext cx="5212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38D5E6"/>
                </a:solidFill>
                <a:latin typeface="Aptos"/>
              </a:defRPr>
            </a:pPr>
            <a:r>
              <a:t>FLYMATEAI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508760"/>
            <a:ext cx="6583680" cy="1554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3800" b="1">
                <a:solidFill>
                  <a:srgbClr val="F5F8FF"/>
                </a:solidFill>
                <a:latin typeface="Aptos"/>
              </a:defRPr>
            </a:pPr>
            <a:r>
              <a:t>Your journey.</a:t>
            </a:r>
            <a:br/>
            <a:r>
              <a:t>Reimagined.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401568"/>
            <a:ext cx="576072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800" b="0">
                <a:solidFill>
                  <a:srgbClr val="B1C1DA"/>
                </a:solidFill>
                <a:latin typeface="Aptos"/>
              </a:defRPr>
            </a:pPr>
            <a:r>
              <a:t>An AI-powered travel companion for planning, exploring,</a:t>
            </a:r>
            <a:br/>
            <a:r>
              <a:t>and travelling with more confidence.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9160"/>
            <a:ext cx="2011680" cy="475488"/>
          </a:xfrm>
          <a:prstGeom prst="round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855464"/>
            <a:ext cx="1783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6144768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B1C1DA"/>
                </a:solidFill>
                <a:latin typeface="Aptos"/>
              </a:defRPr>
            </a:pPr>
            <a:r>
              <a:t>AI Travel Planner  •  Voice Assistance  •  Smarter Itineraries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144768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100" b="0">
                <a:solidFill>
                  <a:srgbClr val="B1C1DA"/>
                </a:solidFill>
                <a:latin typeface="Aptos"/>
              </a:defRPr>
            </a:pPr>
            <a:r>
              <a:t>Team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000" b="1">
                <a:solidFill>
                  <a:srgbClr val="38D5E6"/>
                </a:solidFill>
                <a:latin typeface="Aptos"/>
              </a:defRPr>
            </a:pPr>
            <a: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"/>
              </a:defRPr>
            </a:pPr>
            <a:r>
              <a:t>Travel planning is still fragmented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41148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B1C1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4241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000" b="0">
                <a:solidFill>
                  <a:srgbClr val="E1EDFF"/>
                </a:solidFill>
                <a:latin typeface="Aptos"/>
              </a:defRPr>
            </a:pPr>
            <a:r>
              <a:t>Travellers often switch between multiple apps and still have to manage the details themselves.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3429000" cy="210312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514600"/>
            <a:ext cx="64008" cy="2103120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69748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Too many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27248"/>
            <a:ext cx="3017520" cy="1353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Itineraries, maps, bookings, weather and reminders live in separate places.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514600"/>
            <a:ext cx="3429000" cy="210312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514600"/>
            <a:ext cx="64008" cy="2103120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69748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Decision overload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127248"/>
            <a:ext cx="3017520" cy="1353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Choosing what to see, when to go and how to move can be time-consuming.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210312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514600"/>
            <a:ext cx="64008" cy="210312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69748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Uncertainty on the 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127248"/>
            <a:ext cx="3017520" cy="1353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Travellers need quick answers, practical guidance and useful offline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166360"/>
            <a:ext cx="10698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900" b="1">
                <a:solidFill>
                  <a:srgbClr val="F5F8FF"/>
                </a:solidFill>
                <a:latin typeface="Aptos"/>
              </a:defRPr>
            </a:pPr>
            <a:r>
              <a:t>Opportunity: bring planning, guidance and trip organization into one travel companion.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000" b="1">
                <a:solidFill>
                  <a:srgbClr val="38D5E6"/>
                </a:solidFill>
                <a:latin typeface="Aptos"/>
              </a:defRPr>
            </a:pPr>
            <a:r>
              <a:t>02 —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"/>
              </a:defRPr>
            </a:pPr>
            <a:r>
              <a:t>Meet FlyMateAI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41148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B1C1D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515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000" b="0">
                <a:solidFill>
                  <a:srgbClr val="E1EDFF"/>
                </a:solidFill>
                <a:latin typeface="Aptos"/>
              </a:defRPr>
            </a:pPr>
            <a:r>
              <a:t>One place to plan the trip, get guidance and keep important travel details close at hand.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3429000" cy="233172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468880"/>
            <a:ext cx="64008" cy="2331720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65176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081528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AI-assisted itinerary ideas, destination discovery and personalized travel suggestions.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468880"/>
            <a:ext cx="3429000" cy="233172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468880"/>
            <a:ext cx="64008" cy="2331720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65176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Navigate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081528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A visual travel experience designed to help users orient themselves and explore places.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429000" cy="233172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468880"/>
            <a:ext cx="64008" cy="233172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65176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Stay prepared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081528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Travel checklist, reminders and a more conversational assistant experience.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38D5E6"/>
                </a:solidFill>
                <a:latin typeface="Aptos"/>
              </a:defRPr>
            </a:pPr>
            <a:r>
              <a:t>Product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230368"/>
            <a:ext cx="90525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800" b="1">
                <a:solidFill>
                  <a:srgbClr val="F5F8FF"/>
                </a:solidFill>
                <a:latin typeface="Aptos"/>
              </a:defRPr>
            </a:pPr>
            <a:r>
              <a:t>A more human, less stressful way to travel — from the first idea to the journey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000" b="1">
                <a:solidFill>
                  <a:srgbClr val="38D5E6"/>
                </a:solidFill>
                <a:latin typeface="Aptos"/>
              </a:defRPr>
            </a:pPr>
            <a:r>
              <a:t>03 —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41148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B1C1D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572768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1572768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2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AI travel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04288"/>
            <a:ext cx="301752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B1C1DA"/>
                </a:solidFill>
                <a:latin typeface="Aptos"/>
              </a:defRPr>
            </a:pPr>
            <a:r>
              <a:t>Generate trip ideas and structured plans with an AI assistant.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29000" cy="1572768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64008" cy="1572768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7452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Voice-first assistance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01752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B1C1DA"/>
                </a:solidFill>
                <a:latin typeface="Aptos"/>
              </a:defRPr>
            </a:pPr>
            <a:r>
              <a:t>Ask questions naturally and receive spoken responses when enabled.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29000" cy="1572768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64008" cy="1572768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87452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Travel 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304288"/>
            <a:ext cx="301752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B1C1DA"/>
                </a:solidFill>
                <a:latin typeface="Aptos"/>
              </a:defRPr>
            </a:pPr>
            <a:r>
              <a:t>Keep essentials such as ID, confirmations, chargers and clothing in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429000" cy="1572768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03320"/>
            <a:ext cx="64008" cy="1572768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88620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Visual exploration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315968"/>
            <a:ext cx="301752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B1C1DA"/>
                </a:solidFill>
                <a:latin typeface="Aptos"/>
              </a:defRPr>
            </a:pPr>
            <a:r>
              <a:t>A globe-inspired interface creates a distinctive entry point for discovery.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703320"/>
            <a:ext cx="3429000" cy="1572768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3703320"/>
            <a:ext cx="64008" cy="1572768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88620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Flexible trip 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315968"/>
            <a:ext cx="301752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B1C1DA"/>
                </a:solidFill>
                <a:latin typeface="Aptos"/>
              </a:defRPr>
            </a:pPr>
            <a:r>
              <a:t>Support users as plans evolve, with suggestions for places and activities.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703320"/>
            <a:ext cx="3429000" cy="1572768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703320"/>
            <a:ext cx="64008" cy="1572768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388620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Offline-ready direction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4315968"/>
            <a:ext cx="301752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B1C1DA"/>
                </a:solidFill>
                <a:latin typeface="Aptos"/>
              </a:defRPr>
            </a:pPr>
            <a:r>
              <a:t>Product roadmap: keep key itinerary details accessible without a connection.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000" b="1">
                <a:solidFill>
                  <a:srgbClr val="38D5E6"/>
                </a:solidFill>
                <a:latin typeface="Aptos"/>
              </a:defRPr>
            </a:pPr>
            <a:r>
              <a:t>04 —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"/>
              </a:defRPr>
            </a:pPr>
            <a:r>
              <a:t>A simple journey from idea to itinerary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41148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B1C1D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874519"/>
            <a:ext cx="685800" cy="685800"/>
          </a:xfrm>
          <a:prstGeom prst="ellipse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2084831"/>
            <a:ext cx="63093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5F8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1691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965960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0">
                <a:solidFill>
                  <a:srgbClr val="B1C1DA"/>
                </a:solidFill>
                <a:latin typeface="Aptos"/>
              </a:defRPr>
            </a:pPr>
            <a:r>
              <a:t>Choose a destination or describe the kind of trip you want.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185416"/>
            <a:ext cx="932688" cy="32004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3008" y="1874519"/>
            <a:ext cx="685800" cy="685800"/>
          </a:xfrm>
          <a:prstGeom prst="ellipse">
            <a:avLst/>
          </a:prstGeom>
          <a:solidFill>
            <a:srgbClr val="14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084831"/>
            <a:ext cx="63093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5F8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788920"/>
            <a:ext cx="1691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Personalize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3246120"/>
            <a:ext cx="1965960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0">
                <a:solidFill>
                  <a:srgbClr val="B1C1DA"/>
                </a:solidFill>
                <a:latin typeface="Aptos"/>
              </a:defRPr>
            </a:pPr>
            <a:r>
              <a:t>Share dates, interests, pace and practical needs.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185416"/>
            <a:ext cx="932688" cy="32004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97296" y="1874519"/>
            <a:ext cx="685800" cy="685800"/>
          </a:xfrm>
          <a:prstGeom prst="ellipse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8" y="2084831"/>
            <a:ext cx="63093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5F8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2788920"/>
            <a:ext cx="1691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3246120"/>
            <a:ext cx="1965960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0">
                <a:solidFill>
                  <a:srgbClr val="B1C1DA"/>
                </a:solidFill>
                <a:latin typeface="Aptos"/>
              </a:defRPr>
            </a:pPr>
            <a:r>
              <a:t>Review an AI-assisted itinerary and useful travel checklist.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2185416"/>
            <a:ext cx="932688" cy="32004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01584" y="1874519"/>
            <a:ext cx="685800" cy="685800"/>
          </a:xfrm>
          <a:prstGeom prst="ellipse">
            <a:avLst/>
          </a:prstGeom>
          <a:solidFill>
            <a:srgbClr val="14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2084831"/>
            <a:ext cx="63093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5F8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2788920"/>
            <a:ext cx="1691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3246120"/>
            <a:ext cx="1965960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0">
                <a:solidFill>
                  <a:srgbClr val="B1C1DA"/>
                </a:solidFill>
                <a:latin typeface="Aptos"/>
              </a:defRPr>
            </a:pPr>
            <a:r>
              <a:t>Use visual guidance and voice interaction while travelling.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33104" y="2185416"/>
            <a:ext cx="932688" cy="32004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05872" y="1874519"/>
            <a:ext cx="685800" cy="685800"/>
          </a:xfrm>
          <a:prstGeom prst="ellipse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33304" y="2084831"/>
            <a:ext cx="63093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5F8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2788920"/>
            <a:ext cx="1691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Adapt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3246120"/>
            <a:ext cx="1965960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0">
                <a:solidFill>
                  <a:srgbClr val="B1C1DA"/>
                </a:solidFill>
                <a:latin typeface="Aptos"/>
              </a:defRPr>
            </a:pPr>
            <a:r>
              <a:t>Adjust the plan as preferences or circumstances change.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E1EDFF"/>
                </a:solidFill>
                <a:latin typeface="Aptos"/>
              </a:defRPr>
            </a:pPr>
            <a:r>
              <a:t>Designed around the traveller — not around a collection of disconnected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000" b="1">
                <a:solidFill>
                  <a:srgbClr val="38D5E6"/>
                </a:solidFill>
                <a:latin typeface="Aptos"/>
              </a:defRPr>
            </a:pPr>
            <a:r>
              <a:t>05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"/>
              </a:defRPr>
            </a:pPr>
            <a:r>
              <a:t>Technology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41148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B1C1D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0241280" cy="77724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737360"/>
            <a:ext cx="82296" cy="777240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56231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297BFF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56231"/>
            <a:ext cx="7223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Web interface • Responsive layouts • Travel checklist • Voice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241280" cy="77724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788920"/>
            <a:ext cx="82296" cy="777240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907791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38D5E6"/>
                </a:solidFill>
                <a:latin typeface="Aptos"/>
              </a:defRPr>
            </a:pPr>
            <a:r>
              <a:t>AI &amp; APPLICATION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07791"/>
            <a:ext cx="7223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Gemini-powered assistance • Prompting and response handling • Trip-planning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40480"/>
            <a:ext cx="10241280" cy="77724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840480"/>
            <a:ext cx="82296" cy="777240"/>
          </a:xfrm>
          <a:prstGeom prst="rect">
            <a:avLst/>
          </a:prstGeom>
          <a:solidFill>
            <a:srgbClr val="547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9593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5477D2"/>
                </a:solidFill>
                <a:latin typeface="Aptos"/>
              </a:defRPr>
            </a:pPr>
            <a:r>
              <a:t>BACKEND &amp;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959352"/>
            <a:ext cx="7223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Firebase integration planned/being configured • Authentication and trip data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FFB14C"/>
                </a:solidFill>
                <a:latin typeface="Aptos"/>
              </a:defRPr>
            </a:pPr>
            <a:r>
              <a:t>Integrations should be validated in the final demo; API keys must stay out of client-side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000" b="1">
                <a:solidFill>
                  <a:srgbClr val="38D5E6"/>
                </a:solidFill>
                <a:latin typeface="Aptos"/>
              </a:defRPr>
            </a:pPr>
            <a:r>
              <a:t>06 —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"/>
              </a:defRPr>
            </a:pPr>
            <a:r>
              <a:t>What makes FlyMateAI different?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41148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B1C1D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57800" cy="141732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64008" cy="1417320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46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Conversational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50008"/>
            <a:ext cx="4846320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B1C1DA"/>
                </a:solidFill>
                <a:latin typeface="Aptos"/>
              </a:defRPr>
            </a:pPr>
            <a:r>
              <a:t>A travel companion experience, with voice interaction as a natural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141732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64008" cy="1417320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1920240"/>
            <a:ext cx="4846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Planning plus preparedness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350008"/>
            <a:ext cx="4846320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B1C1DA"/>
                </a:solidFill>
                <a:latin typeface="Aptos"/>
              </a:defRPr>
            </a:pPr>
            <a:r>
              <a:t>Pair itinerary ideas with practical checklists and trip essentials.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5257800" cy="141732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20440"/>
            <a:ext cx="64008" cy="141732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703320"/>
            <a:ext cx="4846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Visual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4133088"/>
            <a:ext cx="4846320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B1C1DA"/>
                </a:solidFill>
                <a:latin typeface="Aptos"/>
              </a:defRPr>
            </a:pPr>
            <a:r>
              <a:t>A globe-inspired interface gives the product a recognizable travel-first feel.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20440"/>
            <a:ext cx="5257800" cy="141732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520440"/>
            <a:ext cx="64008" cy="1417320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3703320"/>
            <a:ext cx="4846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Built to grow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4133088"/>
            <a:ext cx="4846320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B1C1DA"/>
                </a:solidFill>
                <a:latin typeface="Aptos"/>
              </a:defRPr>
            </a:pPr>
            <a:r>
              <a:t>A foundation for future offline packs, smarter recommendations and membership features.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Our goal is not just to suggest destinations — it is to reduce friction across the travel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000" b="1">
                <a:solidFill>
                  <a:srgbClr val="38D5E6"/>
                </a:solidFill>
                <a:latin typeface="Aptos"/>
              </a:defRPr>
            </a:pPr>
            <a:r>
              <a:t>07 —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"/>
              </a:defRPr>
            </a:pPr>
            <a:r>
              <a:t>Roadmap: prototype to travel companion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41148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B1C1D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143000" cy="502920"/>
          </a:xfrm>
          <a:prstGeom prst="round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960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709928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Polish the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09928"/>
            <a:ext cx="6492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Responsive UI, stable itinerary flow, checklist and voice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15768"/>
            <a:ext cx="1143000" cy="502920"/>
          </a:xfrm>
          <a:prstGeom prst="roundRect">
            <a:avLst/>
          </a:prstGeom>
          <a:solidFill>
            <a:srgbClr val="17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960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734056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Connect &amp;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734056"/>
            <a:ext cx="6492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Secure backend configuration, authentication, saved trips and error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39896"/>
            <a:ext cx="1143000" cy="502920"/>
          </a:xfrm>
          <a:prstGeom prst="roundRect">
            <a:avLst/>
          </a:prstGeom>
          <a:solidFill>
            <a:srgbClr val="17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95344"/>
            <a:ext cx="960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758183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Make trips more useful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758183"/>
            <a:ext cx="6492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Offline itinerary access, place-aware guidance and missed-place alternatives.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64024"/>
            <a:ext cx="1143000" cy="502920"/>
          </a:xfrm>
          <a:prstGeom prst="roundRect">
            <a:avLst/>
          </a:prstGeom>
          <a:solidFill>
            <a:srgbClr val="17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19472"/>
            <a:ext cx="960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782312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Personalize &amp;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782312"/>
            <a:ext cx="6492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Membership benefits, preference learning and richer navigation experiences.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000" b="0">
                <a:solidFill>
                  <a:srgbClr val="B1C1DA"/>
                </a:solidFill>
                <a:latin typeface="Aptos"/>
              </a:defRPr>
            </a:pPr>
            <a:r>
              <a:t>Roadmap items represent planned enhancements, not claims that every capability is already complete.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000" b="1">
                <a:solidFill>
                  <a:srgbClr val="38D5E6"/>
                </a:solidFill>
                <a:latin typeface="Aptos"/>
              </a:defRPr>
            </a:pPr>
            <a:r>
              <a:t>08 —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"/>
              </a:defRPr>
            </a:pPr>
            <a:r>
              <a:t>Who benefits — and how?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41148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B1C1D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214884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4008" cy="2148840"/>
          </a:xfrm>
          <a:prstGeom prst="rect">
            <a:avLst/>
          </a:prstGeom>
          <a:solidFill>
            <a:srgbClr val="2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01168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First-time travellers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441448"/>
            <a:ext cx="3017520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A clearer plan, fewer missed essentials and a more confident start.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214884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64008" cy="2148840"/>
          </a:xfrm>
          <a:prstGeom prst="rect">
            <a:avLst/>
          </a:prstGeom>
          <a:solidFill>
            <a:srgbClr val="38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1168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Busy planners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41448"/>
            <a:ext cx="3017520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Less time coordinating tabs, notes and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2148840"/>
          </a:xfrm>
          <a:prstGeom prst="round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64008" cy="214884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01168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Flexible explorers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441448"/>
            <a:ext cx="3017520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B1C1DA"/>
                </a:solidFill>
                <a:latin typeface="Aptos"/>
              </a:defRPr>
            </a:pPr>
            <a:r>
              <a:t>A plan that can evolve as interests, time and conditions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1">
                <a:solidFill>
                  <a:srgbClr val="38D5E6"/>
                </a:solidFill>
                <a:latin typeface="Aptos"/>
              </a:defRPr>
            </a:pPr>
            <a:r>
              <a:t>Intended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424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000" b="1">
                <a:solidFill>
                  <a:srgbClr val="F5F8FF"/>
                </a:solidFill>
                <a:latin typeface="Aptos"/>
              </a:defRPr>
            </a:pPr>
            <a:r>
              <a:t>Reduce planning friction • Keep essentials visible • Make guidance more accessible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52360" y="731520"/>
            <a:ext cx="3840480" cy="3840480"/>
          </a:xfrm>
          <a:prstGeom prst="ellipse">
            <a:avLst/>
          </a:prstGeom>
          <a:noFill/>
          <a:ln w="17780">
            <a:solidFill>
              <a:srgbClr val="29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18120" y="1097280"/>
            <a:ext cx="3108960" cy="3108960"/>
          </a:xfrm>
          <a:prstGeom prst="ellipse">
            <a:avLst/>
          </a:prstGeom>
          <a:noFill/>
          <a:ln w="17780">
            <a:solidFill>
              <a:srgbClr val="3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83879" y="1463040"/>
            <a:ext cx="2377440" cy="2377440"/>
          </a:xfrm>
          <a:prstGeom prst="ellipse">
            <a:avLst/>
          </a:prstGeom>
          <a:noFill/>
          <a:ln w="17780">
            <a:solidFill>
              <a:srgbClr val="41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75320" y="1554480"/>
            <a:ext cx="2194560" cy="2194560"/>
          </a:xfrm>
          <a:prstGeom prst="ellipse">
            <a:avLst/>
          </a:prstGeom>
          <a:solidFill>
            <a:srgbClr val="11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400800" cy="2194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3500" b="1">
                <a:solidFill>
                  <a:srgbClr val="F5F8FF"/>
                </a:solidFill>
                <a:latin typeface="Aptos"/>
              </a:defRPr>
            </a:pPr>
            <a:r>
              <a:t>LET’S MAKE</a:t>
            </a:r>
            <a:br/>
            <a:r>
              <a:t>EVERY JOURNEY</a:t>
            </a:r>
            <a:br/>
            <a:r>
              <a:t>FEEL EASIER.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6217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900" b="1">
                <a:solidFill>
                  <a:srgbClr val="38D5E6"/>
                </a:solidFill>
                <a:latin typeface="Aptos"/>
              </a:defRPr>
            </a:pPr>
            <a:r>
              <a:t>FlyMateAI — your AI-powered travel companion.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0">
                <a:solidFill>
                  <a:srgbClr val="B1C1D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035040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400" b="1">
                <a:solidFill>
                  <a:srgbClr val="F5F8FF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